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0" r:id="rId3"/>
    <p:sldId id="270" r:id="rId4"/>
    <p:sldId id="269" r:id="rId5"/>
    <p:sldId id="272" r:id="rId6"/>
    <p:sldId id="271" r:id="rId7"/>
    <p:sldId id="267" r:id="rId8"/>
    <p:sldId id="268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8"/>
    <p:restoredTop sz="81827"/>
  </p:normalViewPr>
  <p:slideViewPr>
    <p:cSldViewPr snapToGrid="0">
      <p:cViewPr varScale="1">
        <p:scale>
          <a:sx n="138" d="100"/>
          <a:sy n="138" d="100"/>
        </p:scale>
        <p:origin x="59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D217BF-E958-6F4A-9DEF-2D4CEAF25811}" type="datetimeFigureOut">
              <a:rPr kumimoji="1" lang="ko-KR" altLang="en-US" smtClean="0"/>
              <a:t>2026. 4. 11.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D4BA47-75EC-824B-9F3D-7746095FD3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4873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CIE</a:t>
            </a:r>
            <a:r>
              <a:rPr kumimoji="1" lang="ko-KR" altLang="en-US" dirty="0"/>
              <a:t> </a:t>
            </a:r>
            <a:r>
              <a:rPr kumimoji="1" lang="en-US" altLang="ko-KR" dirty="0"/>
              <a:t>1931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xy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색도계</a:t>
            </a:r>
            <a:endParaRPr kumimoji="1" lang="en-US" altLang="ko-KR" dirty="0"/>
          </a:p>
          <a:p>
            <a:r>
              <a:rPr kumimoji="1" lang="ko-KR" altLang="en-US" dirty="0"/>
              <a:t>자주 봤지만 생각보다 </a:t>
            </a:r>
            <a:r>
              <a:rPr kumimoji="1" lang="ko-KR" altLang="en-US" dirty="0" err="1"/>
              <a:t>우리한테</a:t>
            </a:r>
            <a:r>
              <a:rPr kumimoji="1" lang="ko-KR" altLang="en-US" dirty="0"/>
              <a:t> 중요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CIE 1931</a:t>
            </a:r>
            <a:r>
              <a:rPr kumimoji="1" lang="ko-KR" altLang="en-US" dirty="0"/>
              <a:t>은 우리가 실제로 눈으로 보는 색상 그대로 수치로 표현한 것</a:t>
            </a:r>
            <a:endParaRPr kumimoji="1" lang="en-US" altLang="ko-KR" dirty="0"/>
          </a:p>
          <a:p>
            <a:r>
              <a:rPr kumimoji="1" lang="en-US" altLang="ko-KR" dirty="0"/>
              <a:t>linear space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그럼 우리가 보는 비디오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이미지 데이터들은</a:t>
            </a:r>
            <a:r>
              <a:rPr kumimoji="1" lang="en-US" altLang="ko-KR" dirty="0"/>
              <a:t>?</a:t>
            </a:r>
          </a:p>
          <a:p>
            <a:r>
              <a:rPr kumimoji="1" lang="en-US" altLang="ko-KR" dirty="0"/>
              <a:t>Non-linear space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디스플레이용</a:t>
            </a:r>
            <a:r>
              <a:rPr kumimoji="1" lang="en-US" altLang="ko-KR" dirty="0"/>
              <a:t> profile</a:t>
            </a:r>
          </a:p>
          <a:p>
            <a:r>
              <a:rPr kumimoji="1" lang="en-US" altLang="ko-KR" dirty="0"/>
              <a:t>BT.601, BT.709. BT.2100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sRGB, </a:t>
            </a:r>
            <a:r>
              <a:rPr kumimoji="1" lang="en-US" altLang="ko-KR" dirty="0" err="1"/>
              <a:t>AdobeRGB</a:t>
            </a:r>
            <a:r>
              <a:rPr kumimoji="1" lang="en-US" altLang="ko-KR" dirty="0"/>
              <a:t>, DCI-P3</a:t>
            </a:r>
          </a:p>
          <a:p>
            <a:endParaRPr kumimoji="1" lang="en-US" altLang="ko-KR" dirty="0"/>
          </a:p>
          <a:p>
            <a:r>
              <a:rPr kumimoji="1" lang="ko-KR" altLang="en-US" dirty="0" err="1"/>
              <a:t>안쇄용</a:t>
            </a:r>
            <a:r>
              <a:rPr kumimoji="1" lang="ko-KR" altLang="en-US" dirty="0"/>
              <a:t> </a:t>
            </a:r>
            <a:r>
              <a:rPr kumimoji="1" lang="en-US" altLang="ko-KR" dirty="0"/>
              <a:t>profile</a:t>
            </a:r>
          </a:p>
          <a:p>
            <a:r>
              <a:rPr kumimoji="1" lang="en-US" altLang="ko-KR" dirty="0"/>
              <a:t>ICC profile</a:t>
            </a:r>
          </a:p>
          <a:p>
            <a:r>
              <a:rPr lang="en" altLang="ko-KR" dirty="0"/>
              <a:t>FOGRA (</a:t>
            </a:r>
            <a:r>
              <a:rPr lang="ko-KR" altLang="en-US" dirty="0"/>
              <a:t>유럽 및 전 세계 범용</a:t>
            </a:r>
            <a:r>
              <a:rPr lang="en-US" altLang="ko-KR" dirty="0"/>
              <a:t>),</a:t>
            </a:r>
            <a:r>
              <a:rPr lang="ko-KR" altLang="en-US" dirty="0"/>
              <a:t> </a:t>
            </a:r>
            <a:r>
              <a:rPr lang="en" altLang="ko-KR" dirty="0"/>
              <a:t>SWOP / </a:t>
            </a:r>
            <a:r>
              <a:rPr lang="en" altLang="ko-KR" dirty="0" err="1"/>
              <a:t>GRACoL</a:t>
            </a:r>
            <a:r>
              <a:rPr lang="en" altLang="ko-KR" dirty="0"/>
              <a:t> (</a:t>
            </a:r>
            <a:r>
              <a:rPr lang="ko-KR" altLang="en-US" dirty="0"/>
              <a:t>북미</a:t>
            </a:r>
            <a:r>
              <a:rPr lang="en-US" altLang="ko-KR" dirty="0"/>
              <a:t>),</a:t>
            </a:r>
            <a:r>
              <a:rPr lang="ko-KR" altLang="en-US" dirty="0"/>
              <a:t> </a:t>
            </a:r>
            <a:r>
              <a:rPr lang="en" altLang="ko-KR" dirty="0"/>
              <a:t>Japan Color (</a:t>
            </a:r>
            <a:r>
              <a:rPr lang="ko-KR" altLang="en-US" dirty="0"/>
              <a:t>일본 및 아시아 일부</a:t>
            </a:r>
            <a:r>
              <a:rPr lang="en-US" altLang="ko-KR" dirty="0"/>
              <a:t>)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우리가 보는 색상을 수치로 표현</a:t>
            </a:r>
            <a:endParaRPr kumimoji="1" lang="en-US" altLang="ko-KR" dirty="0"/>
          </a:p>
          <a:p>
            <a:r>
              <a:rPr kumimoji="1" lang="ko-KR" altLang="en-US" dirty="0"/>
              <a:t>수치를 우리가 보는 색상으로 재현</a:t>
            </a:r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4BA47-75EC-824B-9F3D-7746095FD340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260987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CB12D-B5A6-1A17-93E9-E9E2B1D02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3E93BC-C085-9108-9710-115FBB798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0536F5-962D-7ADD-F1F6-28F1A22551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/>
              <a:t>https</a:t>
            </a:r>
            <a:r>
              <a:rPr lang="ko-KR" altLang="en-US" dirty="0"/>
              <a:t>://</a:t>
            </a:r>
            <a:r>
              <a:rPr lang="ko-KR" altLang="en-US" dirty="0" err="1"/>
              <a:t>coreyginnivan.medium.com</a:t>
            </a:r>
            <a:r>
              <a:rPr lang="ko-KR" altLang="en-US" dirty="0"/>
              <a:t>/srgb-or-p3-what-even-are-they-lets-talk-about-colour-profiles-and-colour-management-33d2f164c041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CIE</a:t>
            </a:r>
            <a:r>
              <a:rPr kumimoji="1" lang="ko-KR" altLang="en-US" dirty="0"/>
              <a:t> </a:t>
            </a:r>
            <a:r>
              <a:rPr kumimoji="1" lang="en-US" altLang="ko-KR" dirty="0"/>
              <a:t>1931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xy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색도계</a:t>
            </a:r>
            <a:endParaRPr kumimoji="1" lang="en-US" altLang="ko-KR" dirty="0"/>
          </a:p>
          <a:p>
            <a:r>
              <a:rPr kumimoji="1" lang="ko-KR" altLang="en-US" dirty="0"/>
              <a:t>자주 봤지만 생각보다 </a:t>
            </a:r>
            <a:r>
              <a:rPr kumimoji="1" lang="ko-KR" altLang="en-US" dirty="0" err="1"/>
              <a:t>우리한테</a:t>
            </a:r>
            <a:r>
              <a:rPr kumimoji="1" lang="ko-KR" altLang="en-US" dirty="0"/>
              <a:t> 중요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CIE 1931</a:t>
            </a:r>
            <a:r>
              <a:rPr kumimoji="1" lang="ko-KR" altLang="en-US" dirty="0"/>
              <a:t>은 우리가 실제로 눈으로 보는 색상 그대로 수치로 표현한 것</a:t>
            </a:r>
            <a:endParaRPr kumimoji="1" lang="en-US" altLang="ko-KR" dirty="0"/>
          </a:p>
          <a:p>
            <a:r>
              <a:rPr kumimoji="1" lang="en-US" altLang="ko-KR" dirty="0"/>
              <a:t>linear space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그럼 우리가 보는 비디오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이미지 데이터들은</a:t>
            </a:r>
            <a:r>
              <a:rPr kumimoji="1" lang="en-US" altLang="ko-KR" dirty="0"/>
              <a:t>?</a:t>
            </a:r>
          </a:p>
          <a:p>
            <a:r>
              <a:rPr kumimoji="1" lang="en-US" altLang="ko-KR" dirty="0"/>
              <a:t>Non-linear space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디스플레이용</a:t>
            </a:r>
            <a:r>
              <a:rPr kumimoji="1" lang="en-US" altLang="ko-KR" dirty="0"/>
              <a:t> profile</a:t>
            </a:r>
          </a:p>
          <a:p>
            <a:r>
              <a:rPr kumimoji="1" lang="en-US" altLang="ko-KR" dirty="0"/>
              <a:t>BT.601, BT.709. BT.2100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sRGB, </a:t>
            </a:r>
            <a:r>
              <a:rPr kumimoji="1" lang="en-US" altLang="ko-KR" dirty="0" err="1"/>
              <a:t>AdobeRGB</a:t>
            </a:r>
            <a:r>
              <a:rPr kumimoji="1" lang="en-US" altLang="ko-KR" dirty="0"/>
              <a:t>, DCI-P3</a:t>
            </a:r>
          </a:p>
          <a:p>
            <a:endParaRPr kumimoji="1" lang="en-US" altLang="ko-KR" dirty="0"/>
          </a:p>
          <a:p>
            <a:r>
              <a:rPr kumimoji="1" lang="ko-KR" altLang="en-US" dirty="0" err="1"/>
              <a:t>안쇄용</a:t>
            </a:r>
            <a:r>
              <a:rPr kumimoji="1" lang="ko-KR" altLang="en-US" dirty="0"/>
              <a:t> </a:t>
            </a:r>
            <a:r>
              <a:rPr kumimoji="1" lang="en-US" altLang="ko-KR" dirty="0"/>
              <a:t>profile</a:t>
            </a:r>
          </a:p>
          <a:p>
            <a:r>
              <a:rPr kumimoji="1" lang="en-US" altLang="ko-KR" dirty="0"/>
              <a:t>ICC profile</a:t>
            </a:r>
          </a:p>
          <a:p>
            <a:r>
              <a:rPr lang="en" altLang="ko-KR" dirty="0"/>
              <a:t>FOGRA (</a:t>
            </a:r>
            <a:r>
              <a:rPr lang="ko-KR" altLang="en-US" dirty="0"/>
              <a:t>유럽 및 전 세계 범용</a:t>
            </a:r>
            <a:r>
              <a:rPr lang="en-US" altLang="ko-KR" dirty="0"/>
              <a:t>),</a:t>
            </a:r>
            <a:r>
              <a:rPr lang="ko-KR" altLang="en-US" dirty="0"/>
              <a:t> </a:t>
            </a:r>
            <a:r>
              <a:rPr lang="en" altLang="ko-KR" dirty="0"/>
              <a:t>SWOP / </a:t>
            </a:r>
            <a:r>
              <a:rPr lang="en" altLang="ko-KR" dirty="0" err="1"/>
              <a:t>GRACoL</a:t>
            </a:r>
            <a:r>
              <a:rPr lang="en" altLang="ko-KR" dirty="0"/>
              <a:t> (</a:t>
            </a:r>
            <a:r>
              <a:rPr lang="ko-KR" altLang="en-US" dirty="0"/>
              <a:t>북미</a:t>
            </a:r>
            <a:r>
              <a:rPr lang="en-US" altLang="ko-KR" dirty="0"/>
              <a:t>),</a:t>
            </a:r>
            <a:r>
              <a:rPr lang="ko-KR" altLang="en-US" dirty="0"/>
              <a:t> </a:t>
            </a:r>
            <a:r>
              <a:rPr lang="en" altLang="ko-KR" dirty="0"/>
              <a:t>Japan Color (</a:t>
            </a:r>
            <a:r>
              <a:rPr lang="ko-KR" altLang="en-US" dirty="0"/>
              <a:t>일본 및 아시아 일부</a:t>
            </a:r>
            <a:r>
              <a:rPr lang="en-US" altLang="ko-KR" dirty="0"/>
              <a:t>)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우리가 보는 색상을 수치로 표현</a:t>
            </a:r>
            <a:endParaRPr kumimoji="1" lang="en-US" altLang="ko-KR" dirty="0"/>
          </a:p>
          <a:p>
            <a:r>
              <a:rPr kumimoji="1" lang="ko-KR" altLang="en-US" dirty="0"/>
              <a:t>수치를 우리가 보는 색상으로 재현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5269CA-1CF9-EE78-4CBF-1FD95D0658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4BA47-75EC-824B-9F3D-7746095FD340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48052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D49B5-F0D8-E2FF-FE75-F1308F01F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C618A6-C5F2-8352-38C3-D84B89F5A3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FCB4F8-97A5-35FD-1CD4-48DD0E33E1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CIE</a:t>
            </a:r>
            <a:r>
              <a:rPr kumimoji="1" lang="ko-KR" altLang="en-US" dirty="0"/>
              <a:t> </a:t>
            </a:r>
            <a:r>
              <a:rPr kumimoji="1" lang="en-US" altLang="ko-KR" dirty="0"/>
              <a:t>1931</a:t>
            </a:r>
          </a:p>
          <a:p>
            <a:r>
              <a:rPr kumimoji="1" lang="en-US" altLang="ko-KR" dirty="0"/>
              <a:t>RGB</a:t>
            </a:r>
            <a:r>
              <a:rPr kumimoji="1" lang="ko-KR" altLang="en-US" dirty="0"/>
              <a:t>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</a:t>
            </a:r>
            <a:r>
              <a:rPr kumimoji="1" lang="en-US" altLang="ko-KR" dirty="0"/>
              <a:t>XYZ</a:t>
            </a:r>
            <a:r>
              <a:rPr kumimoji="1" lang="ko-KR" altLang="en-US" dirty="0"/>
              <a:t>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xyY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E4DB90-E40D-45B2-2E01-5DCD55E3CA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4BA47-75EC-824B-9F3D-7746095FD340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95999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29B9F9-269D-75E9-D922-8AEAA5174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01CE584-F997-A032-234B-EFF748F829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5D53D9-91EB-D357-222D-FD1AF1867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B4979-FA89-744B-9E1B-F39239FD1507}" type="datetimeFigureOut">
              <a:rPr kumimoji="1" lang="ko-KR" altLang="en-US" smtClean="0"/>
              <a:t>2026. 4. 11.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FD8630-7D2C-CAF7-FF5C-F4F6D86A6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B1A0DD-1273-B3E7-FC23-645B2DD65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39D5B-E1D7-6F41-9266-23F764F7ED4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72016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31A454-E7D1-4B38-3741-F933E8C5E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BC0BDA-5067-E90E-BDFD-B77283389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6289A2-1FD5-67B2-04BD-F45234D54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B4979-FA89-744B-9E1B-F39239FD1507}" type="datetimeFigureOut">
              <a:rPr kumimoji="1" lang="ko-KR" altLang="en-US" smtClean="0"/>
              <a:t>2026. 4. 11.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3CFC53-4E21-DCDF-3A08-591F82595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B0A46D-C33B-638D-7CBD-509D75B51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39D5B-E1D7-6F41-9266-23F764F7ED4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98812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0C9E22-40A3-3948-F02B-CEFC8C801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4EB727-5492-AD06-9088-CDF009EAC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CA5890-48F3-89FD-59B7-0CD6B2CF8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B4979-FA89-744B-9E1B-F39239FD1507}" type="datetimeFigureOut">
              <a:rPr kumimoji="1" lang="ko-KR" altLang="en-US" smtClean="0"/>
              <a:t>2026. 4. 11.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E1DBE5-61C4-7632-9967-EC95C5156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E6522D-1685-E28C-C563-CB25C1488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39D5B-E1D7-6F41-9266-23F764F7ED4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61430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DF6DB7-7C2C-B980-8127-BBF93B644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66B1C6-CEAC-D30F-619E-B72F9FA9DD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995680"/>
            <a:ext cx="5181600" cy="5181283"/>
          </a:xfrm>
        </p:spPr>
        <p:txBody>
          <a:bodyPr/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49252B-7D65-AB31-5F8C-DD710515E4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95680"/>
            <a:ext cx="5181600" cy="5181283"/>
          </a:xfrm>
        </p:spPr>
        <p:txBody>
          <a:bodyPr/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98E58F-EDCE-0360-D3CC-6A01D7B79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B4979-FA89-744B-9E1B-F39239FD1507}" type="datetimeFigureOut">
              <a:rPr kumimoji="1" lang="ko-KR" altLang="en-US" smtClean="0"/>
              <a:t>2026. 4. 11.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5F95E2-67E1-DE0C-0449-85F538D43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2AA88A-3502-63CD-CC3C-FBA811310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39D5B-E1D7-6F41-9266-23F764F7ED4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7463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742896-C8AE-98CC-B252-696EF367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01060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4813A9-9012-A4E5-A10E-F37E19FD4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920558"/>
            <a:ext cx="5157787" cy="4269105"/>
          </a:xfrm>
        </p:spPr>
        <p:txBody>
          <a:bodyPr/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BB23E8-97C3-2D21-CF4E-8A9B939B90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1060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E8D6BD3-FDB3-EC38-9AEF-2734A3E4C9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20558"/>
            <a:ext cx="5183188" cy="4269105"/>
          </a:xfrm>
        </p:spPr>
        <p:txBody>
          <a:bodyPr/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8066A23-D7B7-210B-24B5-9FA8D4357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B4979-FA89-744B-9E1B-F39239FD1507}" type="datetimeFigureOut">
              <a:rPr kumimoji="1" lang="ko-KR" altLang="en-US" smtClean="0"/>
              <a:t>2026. 4. 11.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61CFF2F-9B9B-8168-2623-B90B58E13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D6481C8-E90F-6C35-490E-E63AA103A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39D5B-E1D7-6F41-9266-23F764F7ED48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E184465A-0361-BA52-BD52-40DEF9661365}"/>
              </a:ext>
            </a:extLst>
          </p:cNvPr>
          <p:cNvSpPr txBox="1">
            <a:spLocks/>
          </p:cNvSpPr>
          <p:nvPr userDrawn="1"/>
        </p:nvSpPr>
        <p:spPr>
          <a:xfrm>
            <a:off x="838200" y="18255"/>
            <a:ext cx="10515600" cy="906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6412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0D88D6-6CA4-D696-1F4D-7E10064D3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3575B61-69C8-67B9-10D0-54B3F8B8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B4979-FA89-744B-9E1B-F39239FD1507}" type="datetimeFigureOut">
              <a:rPr kumimoji="1" lang="ko-KR" altLang="en-US" smtClean="0"/>
              <a:t>2026. 4. 11.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7399291-74DE-76F7-9B2E-1BF9C262A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C35E2D9-B99D-0972-22E0-6FE81C752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39D5B-E1D7-6F41-9266-23F764F7ED4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03560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DF77ED6-85F3-A9D5-B7AC-76B6802D0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B4979-FA89-744B-9E1B-F39239FD1507}" type="datetimeFigureOut">
              <a:rPr kumimoji="1" lang="ko-KR" altLang="en-US" smtClean="0"/>
              <a:t>2026. 4. 11.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E775E5D-88B8-CA8A-96E5-03D028A92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F41869-6804-0C99-7CDD-022AA1ACF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39D5B-E1D7-6F41-9266-23F764F7ED4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19968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205CBA-3BD7-DADF-BD56-F2385AC3B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405F39-3839-8352-7AB0-29078C3B6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39640D-FE6E-D9F6-86F2-982FE24C32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CBC7B3-45C5-DC76-1C80-8077D8165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B4979-FA89-744B-9E1B-F39239FD1507}" type="datetimeFigureOut">
              <a:rPr kumimoji="1" lang="ko-KR" altLang="en-US" smtClean="0"/>
              <a:t>2026. 4. 11.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8154FB-0C3C-AE22-B533-8BAE339AB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C4943F-A8CD-1804-4DCF-B2DFB0B97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39D5B-E1D7-6F41-9266-23F764F7ED4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23995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485EA8-3923-9517-9F7F-EC50429AB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E358D7-7939-BC25-1BC2-B857451E36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CDFC9A-F093-C345-9A76-B1B9CA7003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2424C3-BA76-EEA5-F55F-7744B19C1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B4979-FA89-744B-9E1B-F39239FD1507}" type="datetimeFigureOut">
              <a:rPr kumimoji="1" lang="ko-KR" altLang="en-US" smtClean="0"/>
              <a:t>2026. 4. 11.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D40442-B843-53B4-C706-DD11C558B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A96DC6-63A6-29B9-4C39-0B55B42D4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39D5B-E1D7-6F41-9266-23F764F7ED4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30374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62F458-F2BB-5F74-968D-E264D145F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EE9447-2D81-CEDB-295F-DEEDC1AEA9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D1D9E7-F4FF-E3A4-A13B-A0FC37682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B4979-FA89-744B-9E1B-F39239FD1507}" type="datetimeFigureOut">
              <a:rPr kumimoji="1" lang="ko-KR" altLang="en-US" smtClean="0"/>
              <a:t>2026. 4. 11.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990012-D72C-444C-2A56-76E05C5AB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6B069B-B8F6-5F89-03AC-EBA2C63F3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39D5B-E1D7-6F41-9266-23F764F7ED4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68549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20BA8FB-0E23-D53E-4451-C2C704647D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86DCE9-78C8-24CB-39F4-3C870507B6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22091B-408A-4C4E-856F-268BE66B5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B4979-FA89-744B-9E1B-F39239FD1507}" type="datetimeFigureOut">
              <a:rPr kumimoji="1" lang="ko-KR" altLang="en-US" smtClean="0"/>
              <a:t>2026. 4. 11.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F8DD2F-A337-A392-6FE1-4844C907A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8FBBEE-D7FB-7D2A-754A-57F72DE79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39D5B-E1D7-6F41-9266-23F764F7ED4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58318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91974B9-02ED-5EDB-94ED-0C5FE916F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906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529DBD-9366-3D19-2605-B54594823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05840"/>
            <a:ext cx="10515600" cy="5171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7B6B2A-E10F-5252-1C0B-3C6D2023CC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EB4979-FA89-744B-9E1B-F39239FD1507}" type="datetimeFigureOut">
              <a:rPr kumimoji="1" lang="ko-KR" altLang="en-US" smtClean="0"/>
              <a:t>2026. 4. 11.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CE836B-C28D-CD90-672D-0A657C3C18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8279C1-8974-9B50-B4B5-F4FA144053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839D5B-E1D7-6F41-9266-23F764F7ED4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75025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E594B2-D585-4BE9-ACCF-8ED3876B39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D9088BE-4DF5-A0B1-F9E0-D97DCCED41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93601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FAB279-0278-BDD0-15B9-320A92576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 err="1"/>
              <a:t>이런걸</a:t>
            </a:r>
            <a:r>
              <a:rPr kumimoji="1" lang="ko-KR" altLang="en-US" dirty="0"/>
              <a:t> 이해할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306238-C64B-F597-03D8-E7AE0BA30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 err="1"/>
              <a:t>transform_characteristic</a:t>
            </a:r>
            <a:endParaRPr kumimoji="1" lang="en-US" altLang="ko-KR" dirty="0"/>
          </a:p>
          <a:p>
            <a:r>
              <a:rPr kumimoji="1" lang="en-US" altLang="ko-KR" dirty="0"/>
              <a:t>color primaries</a:t>
            </a:r>
          </a:p>
          <a:p>
            <a:r>
              <a:rPr kumimoji="1" lang="en" altLang="ko-KR" dirty="0"/>
              <a:t>matrix coefficients</a:t>
            </a:r>
          </a:p>
          <a:p>
            <a:r>
              <a:rPr kumimoji="1" lang="en" altLang="ko-KR" dirty="0"/>
              <a:t>color range</a:t>
            </a:r>
          </a:p>
          <a:p>
            <a:r>
              <a:rPr kumimoji="1" lang="en-US" altLang="ko-KR" dirty="0"/>
              <a:t>w</a:t>
            </a:r>
            <a:r>
              <a:rPr kumimoji="1" lang="en" altLang="ko-KR" dirty="0" err="1"/>
              <a:t>hite</a:t>
            </a:r>
            <a:r>
              <a:rPr kumimoji="1" lang="en" altLang="ko-KR" dirty="0"/>
              <a:t> point</a:t>
            </a:r>
          </a:p>
          <a:p>
            <a:r>
              <a:rPr kumimoji="1" lang="en-US" altLang="ko-KR" dirty="0"/>
              <a:t>Color</a:t>
            </a:r>
            <a:r>
              <a:rPr kumimoji="1" lang="ko-KR" altLang="en-US" dirty="0"/>
              <a:t> </a:t>
            </a:r>
            <a:r>
              <a:rPr kumimoji="1" lang="en-US" altLang="ko-KR" dirty="0"/>
              <a:t>volume</a:t>
            </a:r>
            <a:r>
              <a:rPr kumimoji="1" lang="ko-KR" altLang="en-US" dirty="0"/>
              <a:t> </a:t>
            </a:r>
            <a:r>
              <a:rPr kumimoji="1" lang="en-US" altLang="ko-KR" dirty="0"/>
              <a:t>and</a:t>
            </a:r>
            <a:r>
              <a:rPr kumimoji="1" lang="ko-KR" altLang="en-US" dirty="0"/>
              <a:t> </a:t>
            </a:r>
            <a:r>
              <a:rPr kumimoji="1" lang="en-US" altLang="ko-KR" dirty="0"/>
              <a:t>HDR</a:t>
            </a:r>
          </a:p>
          <a:p>
            <a:r>
              <a:rPr kumimoji="1" lang="en-US" altLang="ko-KR" dirty="0"/>
              <a:t>ICC</a:t>
            </a:r>
            <a:r>
              <a:rPr kumimoji="1" lang="ko-KR" altLang="en-US" dirty="0"/>
              <a:t> </a:t>
            </a:r>
            <a:r>
              <a:rPr kumimoji="1" lang="en-US" altLang="ko-KR" dirty="0"/>
              <a:t>Profile</a:t>
            </a:r>
          </a:p>
          <a:p>
            <a:r>
              <a:rPr kumimoji="1" lang="ko-KR" altLang="en-US" dirty="0"/>
              <a:t>컬러 프로파일 변환 과정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57690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E69CE-8DF2-ACAD-3945-31470EB5B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994E51-DAB8-CE03-D8CE-7EA2F0F9F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 err="1"/>
              <a:t>이런걸</a:t>
            </a:r>
            <a:r>
              <a:rPr kumimoji="1" lang="ko-KR" altLang="en-US" dirty="0"/>
              <a:t> 이해할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784F2A-A90C-C3C1-7407-7091400DE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SDR,</a:t>
            </a:r>
            <a:r>
              <a:rPr kumimoji="1" lang="ko-KR" altLang="en-US" dirty="0"/>
              <a:t> </a:t>
            </a:r>
            <a:r>
              <a:rPr kumimoji="1" lang="en-US" altLang="ko-KR" dirty="0"/>
              <a:t>HDR </a:t>
            </a:r>
            <a:r>
              <a:rPr kumimoji="1" lang="ko-KR" altLang="en-US" dirty="0"/>
              <a:t>비디오 신호의 차이</a:t>
            </a:r>
            <a:endParaRPr kumimoji="1" lang="en-US" altLang="ko-KR" dirty="0"/>
          </a:p>
          <a:p>
            <a:r>
              <a:rPr kumimoji="1" lang="en-US" altLang="ko-KR" dirty="0"/>
              <a:t>Display </a:t>
            </a:r>
            <a:r>
              <a:rPr kumimoji="1" lang="en-US" altLang="ko-KR" dirty="0" err="1"/>
              <a:t>refered</a:t>
            </a:r>
            <a:endParaRPr kumimoji="1" lang="en-US" altLang="ko-KR" dirty="0"/>
          </a:p>
          <a:p>
            <a:r>
              <a:rPr kumimoji="1" lang="en-US" altLang="ko-KR" dirty="0"/>
              <a:t>Scene </a:t>
            </a:r>
            <a:r>
              <a:rPr kumimoji="1" lang="en-US" altLang="ko-KR" dirty="0" err="1"/>
              <a:t>refered</a:t>
            </a:r>
            <a:endParaRPr kumimoji="1" lang="en-US" altLang="ko-KR" dirty="0"/>
          </a:p>
          <a:p>
            <a:r>
              <a:rPr kumimoji="1" lang="en-US" altLang="ko-KR" dirty="0"/>
              <a:t>SDR to HDR </a:t>
            </a:r>
            <a:r>
              <a:rPr kumimoji="1" lang="ko-KR" altLang="en-US" dirty="0"/>
              <a:t>변환 과정</a:t>
            </a:r>
            <a:endParaRPr kumimoji="1" lang="en-US" altLang="ko-KR" dirty="0"/>
          </a:p>
          <a:p>
            <a:r>
              <a:rPr kumimoji="1" lang="en-US" altLang="ko-KR" dirty="0"/>
              <a:t>HDR10</a:t>
            </a:r>
          </a:p>
          <a:p>
            <a:r>
              <a:rPr kumimoji="1" lang="en-US" altLang="ko-KR" dirty="0"/>
              <a:t>HDR10+</a:t>
            </a:r>
            <a:r>
              <a:rPr kumimoji="1" lang="ko-KR" altLang="en-US" dirty="0"/>
              <a:t> </a:t>
            </a:r>
            <a:r>
              <a:rPr kumimoji="1" lang="en-US" altLang="ko-KR" dirty="0"/>
              <a:t>/ Dolby Vision</a:t>
            </a:r>
          </a:p>
          <a:p>
            <a:r>
              <a:rPr kumimoji="1" lang="en-US" altLang="ko-KR" dirty="0"/>
              <a:t>HLG</a:t>
            </a:r>
          </a:p>
        </p:txBody>
      </p:sp>
    </p:spTree>
    <p:extLst>
      <p:ext uri="{BB962C8B-B14F-4D97-AF65-F5344CB8AC3E}">
        <p14:creationId xmlns:p14="http://schemas.microsoft.com/office/powerpoint/2010/main" val="3188754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6E2E2-8118-249E-9529-B7E02C3B1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AA6DF2-8BAC-C976-011E-9295946CB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CIE 1931</a:t>
            </a:r>
            <a:r>
              <a:rPr kumimoji="1" lang="ko-KR" altLang="en-US" dirty="0"/>
              <a:t> </a:t>
            </a:r>
            <a:r>
              <a:rPr kumimoji="1" lang="en-US" altLang="ko-KR" dirty="0"/>
              <a:t>Color Matching System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1BE900-9D06-0AB3-0B28-045689573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95AB88E-3B16-A311-A05F-1A9CD623B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744" y="978949"/>
            <a:ext cx="5650511" cy="586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5916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00D6E-3987-B399-0567-35783A64B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77E6C1-C424-BB0D-0795-D0FF6611C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CIE 1931</a:t>
            </a:r>
            <a:r>
              <a:rPr kumimoji="1" lang="ko-KR" altLang="en-US" dirty="0"/>
              <a:t> </a:t>
            </a:r>
            <a:r>
              <a:rPr kumimoji="1" lang="en-US" altLang="ko-KR" dirty="0"/>
              <a:t>Color Matching System</a:t>
            </a:r>
            <a:endParaRPr kumimoji="1" lang="ko-KR" altLang="en-US" dirty="0"/>
          </a:p>
        </p:txBody>
      </p:sp>
      <p:pic>
        <p:nvPicPr>
          <p:cNvPr id="12290" name="Picture 2" descr="Studio Display - Apple (KR)">
            <a:extLst>
              <a:ext uri="{FF2B5EF4-FFF2-40B4-BE49-F238E27FC236}">
                <a16:creationId xmlns:a16="http://schemas.microsoft.com/office/drawing/2014/main" id="{0246495D-1575-68F6-74EE-43FBEB12A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481" y="2178049"/>
            <a:ext cx="3251200" cy="250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A869E99C-EA2E-CDE5-E1FC-DDEC2B351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7899" y="2242373"/>
            <a:ext cx="2288101" cy="2373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654D413-4FD3-17A2-6F82-D622276358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183" y="4320218"/>
            <a:ext cx="1012135" cy="101213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BF3B7EC-0812-87AC-D3B7-72D31F1718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2573" y="1907093"/>
            <a:ext cx="877686" cy="877686"/>
          </a:xfrm>
          <a:prstGeom prst="rect">
            <a:avLst/>
          </a:prstGeom>
        </p:spPr>
      </p:pic>
      <p:pic>
        <p:nvPicPr>
          <p:cNvPr id="12294" name="Picture 6">
            <a:extLst>
              <a:ext uri="{FF2B5EF4-FFF2-40B4-BE49-F238E27FC236}">
                <a16:creationId xmlns:a16="http://schemas.microsoft.com/office/drawing/2014/main" id="{B5D9B1E1-BB16-6837-1088-41ECE69708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9" t="13723" r="6111" b="10588"/>
          <a:stretch>
            <a:fillRect/>
          </a:stretch>
        </p:blipFill>
        <p:spPr bwMode="auto">
          <a:xfrm>
            <a:off x="7609992" y="4826285"/>
            <a:ext cx="3743808" cy="18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구부러진 연결선[U] 19">
            <a:extLst>
              <a:ext uri="{FF2B5EF4-FFF2-40B4-BE49-F238E27FC236}">
                <a16:creationId xmlns:a16="http://schemas.microsoft.com/office/drawing/2014/main" id="{F2B1D0DA-6AEA-A9D2-2176-1843E8FCE871}"/>
              </a:ext>
            </a:extLst>
          </p:cNvPr>
          <p:cNvCxnSpPr>
            <a:cxnSpLocks/>
            <a:stCxn id="11" idx="3"/>
            <a:endCxn id="5" idx="1"/>
          </p:cNvCxnSpPr>
          <p:nvPr/>
        </p:nvCxnSpPr>
        <p:spPr>
          <a:xfrm>
            <a:off x="2180259" y="2345936"/>
            <a:ext cx="1627640" cy="1083064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구부러진 연결선[U] 21">
            <a:extLst>
              <a:ext uri="{FF2B5EF4-FFF2-40B4-BE49-F238E27FC236}">
                <a16:creationId xmlns:a16="http://schemas.microsoft.com/office/drawing/2014/main" id="{A3FB4B1D-CBD0-2E57-C936-1451F13C7068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107318" y="3429000"/>
            <a:ext cx="1700581" cy="139728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84F48A29-BAA0-E91E-4558-853177A85B64}"/>
              </a:ext>
            </a:extLst>
          </p:cNvPr>
          <p:cNvCxnSpPr>
            <a:stCxn id="5" idx="3"/>
            <a:endCxn id="12290" idx="1"/>
          </p:cNvCxnSpPr>
          <p:nvPr/>
        </p:nvCxnSpPr>
        <p:spPr>
          <a:xfrm flipV="1">
            <a:off x="6096000" y="3428999"/>
            <a:ext cx="130048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292" name="Picture 4">
            <a:extLst>
              <a:ext uri="{FF2B5EF4-FFF2-40B4-BE49-F238E27FC236}">
                <a16:creationId xmlns:a16="http://schemas.microsoft.com/office/drawing/2014/main" id="{9340B581-363E-05A4-05AB-D7D95AAA07C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81" t="11031" r="11930" b="13281"/>
          <a:stretch>
            <a:fillRect/>
          </a:stretch>
        </p:blipFill>
        <p:spPr bwMode="auto">
          <a:xfrm>
            <a:off x="2429132" y="4719189"/>
            <a:ext cx="2522817" cy="18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>
            <a:extLst>
              <a:ext uri="{FF2B5EF4-FFF2-40B4-BE49-F238E27FC236}">
                <a16:creationId xmlns:a16="http://schemas.microsoft.com/office/drawing/2014/main" id="{80901A27-948C-3E45-BD13-9A1B0A7611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81" t="11031" r="23835" b="13281"/>
          <a:stretch>
            <a:fillRect/>
          </a:stretch>
        </p:blipFill>
        <p:spPr bwMode="auto">
          <a:xfrm>
            <a:off x="1741416" y="705203"/>
            <a:ext cx="2008431" cy="18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>
            <a:extLst>
              <a:ext uri="{FF2B5EF4-FFF2-40B4-BE49-F238E27FC236}">
                <a16:creationId xmlns:a16="http://schemas.microsoft.com/office/drawing/2014/main" id="{946BACD4-2D81-CBA2-AC4A-9B834E8411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81" t="11031" r="23835" b="13281"/>
          <a:stretch>
            <a:fillRect/>
          </a:stretch>
        </p:blipFill>
        <p:spPr bwMode="auto">
          <a:xfrm>
            <a:off x="9643465" y="858990"/>
            <a:ext cx="2008431" cy="18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172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47A7C-0A90-EB72-4489-774F47346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C97936-2BA9-D9D2-739F-7F7CA30DA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CIE 1931</a:t>
            </a:r>
            <a:r>
              <a:rPr kumimoji="1" lang="ko-KR" altLang="en-US" dirty="0"/>
              <a:t> </a:t>
            </a:r>
            <a:r>
              <a:rPr kumimoji="1" lang="en-US" altLang="ko-KR" dirty="0"/>
              <a:t>Color Matching System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C9199F-39BA-1678-7272-ADFED54A9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6400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7D2B4-D69F-3421-A2B9-672033F03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B8AD43-5D05-8111-3E5B-A94337E6B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Human Visual System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71E5DB-4313-0905-C99C-8190C7E92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ctr"/>
            <a:r>
              <a:rPr lang="en-US" altLang="ko-KR" dirty="0" err="1"/>
              <a:t>시각세포</a:t>
            </a:r>
            <a:r>
              <a:rPr lang="ko-KR" altLang="ko-KR" dirty="0"/>
              <a:t>의</a:t>
            </a:r>
            <a:r>
              <a:rPr lang="en-US" altLang="ko-KR" dirty="0"/>
              <a:t> </a:t>
            </a:r>
            <a:r>
              <a:rPr lang="ko-KR" altLang="ko-KR" dirty="0"/>
              <a:t>종류</a:t>
            </a:r>
            <a:endParaRPr lang="ko-KR" altLang="ko-KR" sz="4000" dirty="0"/>
          </a:p>
          <a:p>
            <a:pPr lvl="1" fontAlgn="ctr"/>
            <a:r>
              <a:rPr lang="ko-KR" altLang="ko-KR" dirty="0" err="1"/>
              <a:t>간상체</a:t>
            </a:r>
            <a:r>
              <a:rPr lang="en-US" altLang="ko-KR" dirty="0"/>
              <a:t>(rod): </a:t>
            </a:r>
            <a:r>
              <a:rPr lang="ko-KR" altLang="ko-KR" dirty="0"/>
              <a:t>빛의</a:t>
            </a:r>
            <a:r>
              <a:rPr lang="en-US" altLang="ko-KR" dirty="0"/>
              <a:t> </a:t>
            </a:r>
            <a:r>
              <a:rPr lang="ko-KR" altLang="ko-KR" dirty="0"/>
              <a:t>강약을</a:t>
            </a:r>
            <a:r>
              <a:rPr lang="en-US" altLang="ko-KR" dirty="0"/>
              <a:t> </a:t>
            </a:r>
            <a:r>
              <a:rPr lang="ko-KR" altLang="ko-KR" dirty="0"/>
              <a:t>감지</a:t>
            </a:r>
            <a:r>
              <a:rPr lang="en-US" altLang="ko-KR" dirty="0"/>
              <a:t>, </a:t>
            </a:r>
            <a:r>
              <a:rPr lang="en-US" altLang="ko-KR" dirty="0" err="1"/>
              <a:t>야</a:t>
            </a:r>
            <a:r>
              <a:rPr lang="ko-KR" altLang="ko-KR" dirty="0" err="1"/>
              <a:t>간시력</a:t>
            </a:r>
            <a:endParaRPr lang="ko-KR" altLang="ko-KR" sz="3600" dirty="0"/>
          </a:p>
          <a:p>
            <a:pPr lvl="1" fontAlgn="ctr"/>
            <a:r>
              <a:rPr lang="ko-KR" altLang="ko-KR" dirty="0"/>
              <a:t>원추체</a:t>
            </a:r>
            <a:r>
              <a:rPr lang="en-US" altLang="ko-KR" dirty="0"/>
              <a:t>(con): R, G, B </a:t>
            </a:r>
            <a:r>
              <a:rPr lang="ko-KR" altLang="ko-KR" dirty="0"/>
              <a:t>빛의</a:t>
            </a:r>
            <a:r>
              <a:rPr lang="en-US" altLang="ko-KR" dirty="0"/>
              <a:t> </a:t>
            </a:r>
            <a:r>
              <a:rPr lang="en-US" altLang="ko-KR" dirty="0" err="1"/>
              <a:t>파</a:t>
            </a:r>
            <a:r>
              <a:rPr lang="ko-KR" altLang="ko-KR" dirty="0"/>
              <a:t>장</a:t>
            </a:r>
            <a:r>
              <a:rPr lang="en-US" altLang="ko-KR" dirty="0"/>
              <a:t> </a:t>
            </a:r>
            <a:r>
              <a:rPr lang="ko-KR" altLang="ko-KR" dirty="0"/>
              <a:t>별</a:t>
            </a:r>
            <a:r>
              <a:rPr lang="en-US" altLang="ko-KR" dirty="0"/>
              <a:t> </a:t>
            </a:r>
            <a:r>
              <a:rPr lang="ko-KR" altLang="ko-KR" dirty="0"/>
              <a:t>반응도에</a:t>
            </a:r>
            <a:r>
              <a:rPr lang="en-US" altLang="ko-KR" dirty="0"/>
              <a:t> </a:t>
            </a:r>
            <a:r>
              <a:rPr lang="en-US" altLang="ko-KR" dirty="0" err="1"/>
              <a:t>따라</a:t>
            </a:r>
            <a:r>
              <a:rPr lang="en-US" altLang="ko-KR" dirty="0"/>
              <a:t> </a:t>
            </a:r>
            <a:r>
              <a:rPr lang="ko-KR" altLang="ko-KR" dirty="0"/>
              <a:t>세</a:t>
            </a:r>
            <a:r>
              <a:rPr lang="en-US" altLang="ko-KR" dirty="0"/>
              <a:t> </a:t>
            </a:r>
            <a:r>
              <a:rPr lang="en-US" altLang="ko-KR" dirty="0" err="1"/>
              <a:t>가지로</a:t>
            </a:r>
            <a:r>
              <a:rPr lang="en-US" altLang="ko-KR" dirty="0"/>
              <a:t> </a:t>
            </a:r>
            <a:r>
              <a:rPr lang="en-US" altLang="ko-KR" dirty="0" err="1"/>
              <a:t>구</a:t>
            </a:r>
            <a:r>
              <a:rPr lang="ko-KR" altLang="ko-KR" dirty="0"/>
              <a:t>분</a:t>
            </a:r>
            <a:endParaRPr lang="ko-KR" altLang="ko-KR" sz="3600" dirty="0"/>
          </a:p>
          <a:p>
            <a:endParaRPr kumimoji="1" lang="ko-KR" altLang="en-US" dirty="0"/>
          </a:p>
        </p:txBody>
      </p:sp>
      <p:pic>
        <p:nvPicPr>
          <p:cNvPr id="4" name="Picture 2" descr="Outer &#10;segment &#10;Connecting &#10;cilium &#10;Inner &#10;segment &#10;Nucleus &#10;Synaptic &#10;terminal &#10;Rod &#10;Pigment &#10;discs &#10;Mitochondria &#10;Cone &#10;Rod outer &#10;segment &#10;Rod inner &#10;segment &#10;Cone outer &#10;segment &#10;Cone inner &#10;segment ">
            <a:extLst>
              <a:ext uri="{FF2B5EF4-FFF2-40B4-BE49-F238E27FC236}">
                <a16:creationId xmlns:a16="http://schemas.microsoft.com/office/drawing/2014/main" id="{5BC4CC0D-3B4C-1288-DEFE-D16D1BEE80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731" y="3184525"/>
            <a:ext cx="6094538" cy="330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0238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49293-59E9-C7E2-0743-AC54FAA9C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2C41F6-B4DF-7A4F-263A-CD59D0EF1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Human Visual System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E415CC-F42E-FC1D-75AA-714812D21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ctr"/>
            <a:r>
              <a:rPr lang="ko-KR" altLang="ko-KR" dirty="0"/>
              <a:t>빛의</a:t>
            </a:r>
            <a:r>
              <a:rPr lang="en-US" altLang="ko-KR" dirty="0"/>
              <a:t> </a:t>
            </a:r>
            <a:r>
              <a:rPr lang="en-US" altLang="ko-KR" dirty="0" err="1"/>
              <a:t>파</a:t>
            </a:r>
            <a:r>
              <a:rPr lang="ko-KR" altLang="ko-KR" dirty="0"/>
              <a:t>장에</a:t>
            </a:r>
            <a:r>
              <a:rPr lang="en-US" altLang="ko-KR" dirty="0"/>
              <a:t> </a:t>
            </a:r>
            <a:r>
              <a:rPr lang="en-US" altLang="ko-KR" dirty="0" err="1"/>
              <a:t>따라</a:t>
            </a:r>
            <a:r>
              <a:rPr lang="en-US" altLang="ko-KR" dirty="0"/>
              <a:t> </a:t>
            </a:r>
            <a:r>
              <a:rPr lang="ko-KR" altLang="ko-KR" dirty="0"/>
              <a:t>반응하는</a:t>
            </a:r>
            <a:r>
              <a:rPr lang="en-US" altLang="ko-KR" dirty="0"/>
              <a:t> </a:t>
            </a:r>
            <a:r>
              <a:rPr lang="en-US" altLang="ko-KR" dirty="0" err="1"/>
              <a:t>시세포</a:t>
            </a:r>
            <a:endParaRPr lang="ko-KR" altLang="ko-KR" sz="4000" dirty="0"/>
          </a:p>
          <a:p>
            <a:pPr lvl="1" fontAlgn="ctr"/>
            <a:r>
              <a:rPr lang="ko-KR" altLang="ko-KR" dirty="0" err="1"/>
              <a:t>간상체</a:t>
            </a:r>
            <a:r>
              <a:rPr lang="ko-KR" altLang="ko-KR" dirty="0"/>
              <a:t>(</a:t>
            </a:r>
            <a:r>
              <a:rPr lang="ko-KR" altLang="ko-KR" dirty="0" err="1"/>
              <a:t>rod</a:t>
            </a:r>
            <a:r>
              <a:rPr lang="ko-KR" altLang="ko-KR" dirty="0"/>
              <a:t>) : 499nm</a:t>
            </a:r>
            <a:r>
              <a:rPr lang="en-US" altLang="ko-KR" dirty="0"/>
              <a:t> </a:t>
            </a:r>
            <a:r>
              <a:rPr lang="ko-KR" altLang="ko-KR" dirty="0"/>
              <a:t>(</a:t>
            </a:r>
            <a:r>
              <a:rPr lang="ko-KR" altLang="ko-KR" dirty="0" err="1"/>
              <a:t>Gray</a:t>
            </a:r>
            <a:r>
              <a:rPr lang="ko-KR" altLang="ko-KR" dirty="0"/>
              <a:t>)</a:t>
            </a:r>
            <a:endParaRPr lang="ko-KR" altLang="ko-KR" sz="3600" dirty="0"/>
          </a:p>
          <a:p>
            <a:pPr lvl="1" fontAlgn="ctr"/>
            <a:r>
              <a:rPr lang="ko-KR" altLang="ko-KR" dirty="0"/>
              <a:t>단파장 원추체(</a:t>
            </a:r>
            <a:r>
              <a:rPr lang="ko-KR" altLang="ko-KR" b="1" dirty="0" err="1"/>
              <a:t>S</a:t>
            </a:r>
            <a:r>
              <a:rPr lang="ko-KR" altLang="ko-KR" dirty="0" err="1"/>
              <a:t>hort</a:t>
            </a:r>
            <a:r>
              <a:rPr lang="ko-KR" altLang="ko-KR" dirty="0"/>
              <a:t> </a:t>
            </a:r>
            <a:r>
              <a:rPr lang="ko-KR" altLang="ko-KR" dirty="0" err="1"/>
              <a:t>wavelengths</a:t>
            </a:r>
            <a:r>
              <a:rPr lang="ko-KR" altLang="ko-KR" dirty="0"/>
              <a:t> </a:t>
            </a:r>
            <a:r>
              <a:rPr lang="ko-KR" altLang="ko-KR" dirty="0" err="1"/>
              <a:t>cone</a:t>
            </a:r>
            <a:r>
              <a:rPr lang="ko-KR" altLang="ko-KR" dirty="0"/>
              <a:t>) : 420nm</a:t>
            </a:r>
            <a:r>
              <a:rPr lang="en-US" altLang="ko-KR" dirty="0"/>
              <a:t> </a:t>
            </a:r>
            <a:r>
              <a:rPr lang="ko-KR" altLang="ko-KR" dirty="0"/>
              <a:t>(</a:t>
            </a:r>
            <a:r>
              <a:rPr lang="ko-KR" altLang="ko-KR" dirty="0" err="1"/>
              <a:t>Blue</a:t>
            </a:r>
            <a:r>
              <a:rPr lang="ko-KR" altLang="ko-KR" dirty="0"/>
              <a:t>)</a:t>
            </a:r>
            <a:endParaRPr lang="ko-KR" altLang="ko-KR" sz="3600" dirty="0"/>
          </a:p>
          <a:p>
            <a:pPr lvl="1" fontAlgn="ctr"/>
            <a:r>
              <a:rPr lang="ko-KR" altLang="ko-KR" dirty="0" err="1"/>
              <a:t>중파장</a:t>
            </a:r>
            <a:r>
              <a:rPr lang="ko-KR" altLang="ko-KR" dirty="0"/>
              <a:t> 원추체(</a:t>
            </a:r>
            <a:r>
              <a:rPr lang="ko-KR" altLang="ko-KR" b="1" dirty="0" err="1"/>
              <a:t>M</a:t>
            </a:r>
            <a:r>
              <a:rPr lang="ko-KR" altLang="ko-KR" dirty="0" err="1"/>
              <a:t>iddle</a:t>
            </a:r>
            <a:r>
              <a:rPr lang="ko-KR" altLang="ko-KR" dirty="0"/>
              <a:t> </a:t>
            </a:r>
            <a:r>
              <a:rPr lang="ko-KR" altLang="ko-KR" dirty="0" err="1"/>
              <a:t>wavelengths</a:t>
            </a:r>
            <a:r>
              <a:rPr lang="ko-KR" altLang="ko-KR" dirty="0"/>
              <a:t> </a:t>
            </a:r>
            <a:r>
              <a:rPr lang="ko-KR" altLang="ko-KR" dirty="0" err="1"/>
              <a:t>cone</a:t>
            </a:r>
            <a:r>
              <a:rPr lang="ko-KR" altLang="ko-KR" dirty="0"/>
              <a:t>) : 530nm</a:t>
            </a:r>
            <a:r>
              <a:rPr lang="en-US" altLang="ko-KR" dirty="0"/>
              <a:t> </a:t>
            </a:r>
            <a:r>
              <a:rPr lang="ko-KR" altLang="ko-KR" dirty="0"/>
              <a:t>(</a:t>
            </a:r>
            <a:r>
              <a:rPr lang="ko-KR" altLang="ko-KR" dirty="0" err="1"/>
              <a:t>Green</a:t>
            </a:r>
            <a:r>
              <a:rPr lang="ko-KR" altLang="ko-KR" dirty="0"/>
              <a:t>)</a:t>
            </a:r>
            <a:endParaRPr lang="ko-KR" altLang="ko-KR" sz="3600" dirty="0"/>
          </a:p>
          <a:p>
            <a:pPr lvl="1" fontAlgn="ctr"/>
            <a:r>
              <a:rPr lang="ko-KR" altLang="ko-KR" dirty="0"/>
              <a:t>장파장 원추체(</a:t>
            </a:r>
            <a:r>
              <a:rPr lang="ko-KR" altLang="ko-KR" b="1" dirty="0" err="1"/>
              <a:t>L</a:t>
            </a:r>
            <a:r>
              <a:rPr lang="ko-KR" altLang="ko-KR" dirty="0" err="1"/>
              <a:t>ong</a:t>
            </a:r>
            <a:r>
              <a:rPr lang="ko-KR" altLang="ko-KR" dirty="0"/>
              <a:t> </a:t>
            </a:r>
            <a:r>
              <a:rPr lang="ko-KR" altLang="ko-KR" dirty="0" err="1"/>
              <a:t>wavelengths</a:t>
            </a:r>
            <a:r>
              <a:rPr lang="ko-KR" altLang="ko-KR" dirty="0"/>
              <a:t> </a:t>
            </a:r>
            <a:r>
              <a:rPr lang="ko-KR" altLang="ko-KR" dirty="0" err="1"/>
              <a:t>cone</a:t>
            </a:r>
            <a:r>
              <a:rPr lang="ko-KR" altLang="ko-KR" dirty="0"/>
              <a:t>) : 565nm (</a:t>
            </a:r>
            <a:r>
              <a:rPr lang="ko-KR" altLang="ko-KR" dirty="0" err="1"/>
              <a:t>Red</a:t>
            </a:r>
            <a:r>
              <a:rPr lang="ko-KR" altLang="ko-KR" dirty="0"/>
              <a:t>)</a:t>
            </a:r>
            <a:endParaRPr lang="ko-KR" altLang="ko-KR" sz="3600" dirty="0"/>
          </a:p>
        </p:txBody>
      </p:sp>
      <p:pic>
        <p:nvPicPr>
          <p:cNvPr id="5" name="Picture 2" descr="420 nm &#10;Blue cones &#10;498 nm &#10;Rods &#10;534 nm &#10;cones &#10;100 &#10;50 &#10;0 &#10;564 nm &#10;Red &#10;cones &#10;• Me ium Long &#10;400 &#10;Violet &#10;Blue &#10;Short &#10;500 &#10;Cyan Green &#10;Wavelength (nm) &#10;600 &#10;Yellow Red &#10;700 ">
            <a:extLst>
              <a:ext uri="{FF2B5EF4-FFF2-40B4-BE49-F238E27FC236}">
                <a16:creationId xmlns:a16="http://schemas.microsoft.com/office/drawing/2014/main" id="{E13195C3-6A7D-6440-3289-C87FA18CE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7409" y="3429000"/>
            <a:ext cx="5000625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Outer &#10;segment &#10;Connecting &#10;cilium &#10;Inner &#10;segment &#10;Nucleus &#10;Synaptic &#10;terminal &#10;Rod &#10;Pigment &#10;discs &#10;Mitochondria &#10;Cone &#10;Rod outer &#10;segment &#10;Rod inner &#10;segment &#10;Cone outer &#10;segment &#10;Cone inner &#10;segment ">
            <a:extLst>
              <a:ext uri="{FF2B5EF4-FFF2-40B4-BE49-F238E27FC236}">
                <a16:creationId xmlns:a16="http://schemas.microsoft.com/office/drawing/2014/main" id="{EDFA48AD-8F3C-991A-41A8-C4B0D14DF9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5615"/>
          <a:stretch>
            <a:fillRect/>
          </a:stretch>
        </p:blipFill>
        <p:spPr bwMode="auto">
          <a:xfrm>
            <a:off x="7528671" y="3321050"/>
            <a:ext cx="3314491" cy="330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527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B2089-B518-5AD9-3F47-B9D893C95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6009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2C53B-59DD-AA3D-48E4-10EA6070A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6723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D499B-24B1-8D36-5794-1733F88E0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8705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9A9FC-1487-8C77-4309-490692B3C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060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2002</TotalTime>
  <Words>349</Words>
  <Application>Microsoft Macintosh PowerPoint</Application>
  <PresentationFormat>와이드스크린</PresentationFormat>
  <Paragraphs>76</Paragraphs>
  <Slides>12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프레젠테이션</vt:lpstr>
      <vt:lpstr>이런걸 이해할 수 있다</vt:lpstr>
      <vt:lpstr>이런걸 이해할 수 있다</vt:lpstr>
      <vt:lpstr>CIE 1931 Color Matching System</vt:lpstr>
      <vt:lpstr>CIE 1931 Color Matching System</vt:lpstr>
      <vt:lpstr>CIE 1931 Color Matching System</vt:lpstr>
      <vt:lpstr>Human Visual System</vt:lpstr>
      <vt:lpstr>Human Visual System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재훈 김</dc:creator>
  <cp:lastModifiedBy>재훈 김</cp:lastModifiedBy>
  <cp:revision>1</cp:revision>
  <dcterms:created xsi:type="dcterms:W3CDTF">2026-04-11T02:02:16Z</dcterms:created>
  <dcterms:modified xsi:type="dcterms:W3CDTF">2026-04-12T11:24:21Z</dcterms:modified>
</cp:coreProperties>
</file>